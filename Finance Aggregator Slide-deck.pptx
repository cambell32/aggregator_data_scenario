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B345DA-D91C-49C7-8CB0-BEA57924A715}" type="datetimeFigureOut">
              <a:rPr lang="en-AU" smtClean="0"/>
              <a:t>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1820184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345DA-D91C-49C7-8CB0-BEA57924A715}" type="datetimeFigureOut">
              <a:rPr lang="en-AU" smtClean="0"/>
              <a:t>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317494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B345DA-D91C-49C7-8CB0-BEA57924A715}" type="datetimeFigureOut">
              <a:rPr lang="en-AU" smtClean="0"/>
              <a:t>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2402719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B345DA-D91C-49C7-8CB0-BEA57924A715}" type="datetimeFigureOut">
              <a:rPr lang="en-AU" smtClean="0"/>
              <a:t>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301479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B345DA-D91C-49C7-8CB0-BEA57924A715}" type="datetimeFigureOut">
              <a:rPr lang="en-AU" smtClean="0"/>
              <a:t>3/11/2025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4194889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B345DA-D91C-49C7-8CB0-BEA57924A715}" type="datetimeFigureOut">
              <a:rPr lang="en-AU" smtClean="0"/>
              <a:t>3/11/2025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3119546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345DA-D91C-49C7-8CB0-BEA57924A715}" type="datetimeFigureOut">
              <a:rPr lang="en-AU" smtClean="0"/>
              <a:t>3/11/2025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462740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B345DA-D91C-49C7-8CB0-BEA57924A715}" type="datetimeFigureOut">
              <a:rPr lang="en-AU" smtClean="0"/>
              <a:t>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2271144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B345DA-D91C-49C7-8CB0-BEA57924A715}" type="datetimeFigureOut">
              <a:rPr lang="en-AU" smtClean="0"/>
              <a:t>3/11/2025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744475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345DA-D91C-49C7-8CB0-BEA57924A715}" type="datetimeFigureOut">
              <a:rPr lang="en-AU" smtClean="0"/>
              <a:t>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71214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B345DA-D91C-49C7-8CB0-BEA57924A715}" type="datetimeFigureOut">
              <a:rPr lang="en-AU" smtClean="0"/>
              <a:t>3/11/2025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4ABC6CC-9CE9-486B-B380-6986698BA46C}" type="slidenum">
              <a:rPr lang="en-AU" smtClean="0"/>
              <a:t>‹#›</a:t>
            </a:fld>
            <a:endParaRPr lang="en-AU"/>
          </a:p>
        </p:txBody>
      </p:sp>
    </p:spTree>
    <p:extLst>
      <p:ext uri="{BB962C8B-B14F-4D97-AF65-F5344CB8AC3E}">
        <p14:creationId xmlns:p14="http://schemas.microsoft.com/office/powerpoint/2010/main" val="8596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345DA-D91C-49C7-8CB0-BEA57924A715}" type="datetimeFigureOut">
              <a:rPr lang="en-AU" smtClean="0"/>
              <a:t>3/11/2025</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ABC6CC-9CE9-486B-B380-6986698BA46C}" type="slidenum">
              <a:rPr lang="en-AU" smtClean="0"/>
              <a:t>‹#›</a:t>
            </a:fld>
            <a:endParaRPr lang="en-AU"/>
          </a:p>
        </p:txBody>
      </p:sp>
    </p:spTree>
    <p:extLst>
      <p:ext uri="{BB962C8B-B14F-4D97-AF65-F5344CB8AC3E}">
        <p14:creationId xmlns:p14="http://schemas.microsoft.com/office/powerpoint/2010/main" val="2968614926"/>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abs.gov.au/statistics/economy/finance/lending-indicators/mar-quarter-202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AB32-DCF4-226D-7043-2CACD90D238E}"/>
              </a:ext>
            </a:extLst>
          </p:cNvPr>
          <p:cNvSpPr>
            <a:spLocks noGrp="1"/>
          </p:cNvSpPr>
          <p:nvPr>
            <p:ph type="ctrTitle"/>
          </p:nvPr>
        </p:nvSpPr>
        <p:spPr>
          <a:xfrm>
            <a:off x="2048193" y="789791"/>
            <a:ext cx="8915399" cy="2014459"/>
          </a:xfrm>
        </p:spPr>
        <p:txBody>
          <a:bodyPr>
            <a:normAutofit fontScale="90000"/>
          </a:bodyPr>
          <a:lstStyle/>
          <a:p>
            <a:pPr algn="ctr">
              <a:lnSpc>
                <a:spcPct val="150000"/>
              </a:lnSpc>
            </a:pPr>
            <a:r>
              <a:rPr lang="en-AU" dirty="0"/>
              <a:t>Finance Aggregator Data Scenario</a:t>
            </a:r>
          </a:p>
        </p:txBody>
      </p:sp>
      <p:sp>
        <p:nvSpPr>
          <p:cNvPr id="3" name="Subtitle 2">
            <a:extLst>
              <a:ext uri="{FF2B5EF4-FFF2-40B4-BE49-F238E27FC236}">
                <a16:creationId xmlns:a16="http://schemas.microsoft.com/office/drawing/2014/main" id="{F6E9D9AE-1622-F5F3-0636-86566A669577}"/>
              </a:ext>
            </a:extLst>
          </p:cNvPr>
          <p:cNvSpPr>
            <a:spLocks noGrp="1"/>
          </p:cNvSpPr>
          <p:nvPr>
            <p:ph type="subTitle" idx="1"/>
          </p:nvPr>
        </p:nvSpPr>
        <p:spPr/>
        <p:txBody>
          <a:bodyPr/>
          <a:lstStyle/>
          <a:p>
            <a:pPr>
              <a:lnSpc>
                <a:spcPct val="150000"/>
              </a:lnSpc>
            </a:pPr>
            <a:r>
              <a:rPr lang="en-AU" dirty="0"/>
              <a:t>Designed by Cambell Craigie</a:t>
            </a:r>
            <a:br>
              <a:rPr lang="en-AU" dirty="0"/>
            </a:br>
            <a:r>
              <a:rPr lang="en-AU" dirty="0" err="1"/>
              <a:t>Github</a:t>
            </a:r>
            <a:r>
              <a:rPr lang="en-AU" dirty="0"/>
              <a:t> link: Cambell32/</a:t>
            </a:r>
            <a:r>
              <a:rPr lang="en-AU" dirty="0" err="1"/>
              <a:t>Aggregator_data_scenario</a:t>
            </a:r>
            <a:endParaRPr lang="en-AU" dirty="0"/>
          </a:p>
        </p:txBody>
      </p:sp>
    </p:spTree>
    <p:extLst>
      <p:ext uri="{BB962C8B-B14F-4D97-AF65-F5344CB8AC3E}">
        <p14:creationId xmlns:p14="http://schemas.microsoft.com/office/powerpoint/2010/main" val="2103956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A9481-5CC4-E0F3-EF28-EC48A244633A}"/>
              </a:ext>
            </a:extLst>
          </p:cNvPr>
          <p:cNvSpPr>
            <a:spLocks noGrp="1"/>
          </p:cNvSpPr>
          <p:nvPr>
            <p:ph type="title"/>
          </p:nvPr>
        </p:nvSpPr>
        <p:spPr/>
        <p:txBody>
          <a:bodyPr/>
          <a:lstStyle/>
          <a:p>
            <a:pPr algn="ctr"/>
            <a:r>
              <a:rPr lang="en-AU" dirty="0"/>
              <a:t>Introduction to the scenario and its purpose</a:t>
            </a:r>
          </a:p>
        </p:txBody>
      </p:sp>
      <p:sp>
        <p:nvSpPr>
          <p:cNvPr id="4" name="Text Placeholder 3">
            <a:extLst>
              <a:ext uri="{FF2B5EF4-FFF2-40B4-BE49-F238E27FC236}">
                <a16:creationId xmlns:a16="http://schemas.microsoft.com/office/drawing/2014/main" id="{1BC5BDFD-B615-8119-C5DD-926EA2EFB03B}"/>
              </a:ext>
            </a:extLst>
          </p:cNvPr>
          <p:cNvSpPr>
            <a:spLocks noGrp="1"/>
          </p:cNvSpPr>
          <p:nvPr>
            <p:ph idx="1"/>
          </p:nvPr>
        </p:nvSpPr>
        <p:spPr>
          <a:xfrm>
            <a:off x="2434976" y="2133602"/>
            <a:ext cx="9069636" cy="1724024"/>
          </a:xfrm>
        </p:spPr>
        <p:txBody>
          <a:bodyPr>
            <a:normAutofit fontScale="92500" lnSpcReduction="20000"/>
          </a:bodyPr>
          <a:lstStyle/>
          <a:p>
            <a:r>
              <a:rPr lang="en-US" dirty="0"/>
              <a:t>The data scenario imagines a data analyst </a:t>
            </a:r>
            <a:r>
              <a:rPr lang="en-US" dirty="0" err="1"/>
              <a:t>utilising</a:t>
            </a:r>
            <a:r>
              <a:rPr lang="en-US" dirty="0"/>
              <a:t> the entire data pipeline in a finance aggregator company, from marketing and product management to ROI and customer segmentations. </a:t>
            </a:r>
            <a:endParaRPr lang="en-AU" dirty="0"/>
          </a:p>
          <a:p>
            <a:r>
              <a:rPr lang="en-US" dirty="0"/>
              <a:t>This data scenario was inspired by data from the ABS (Australian Bureau of Statistics, Lending indicators March Quarter 2025). </a:t>
            </a:r>
            <a:endParaRPr lang="en-AU" dirty="0"/>
          </a:p>
          <a:p>
            <a:endParaRPr lang="en-AU" dirty="0"/>
          </a:p>
        </p:txBody>
      </p:sp>
      <p:pic>
        <p:nvPicPr>
          <p:cNvPr id="12" name="Picture 11">
            <a:extLst>
              <a:ext uri="{FF2B5EF4-FFF2-40B4-BE49-F238E27FC236}">
                <a16:creationId xmlns:a16="http://schemas.microsoft.com/office/drawing/2014/main" id="{0C86CBE0-FE7F-692A-5658-E7932A91AFA8}"/>
              </a:ext>
            </a:extLst>
          </p:cNvPr>
          <p:cNvPicPr>
            <a:picLocks noChangeAspect="1"/>
          </p:cNvPicPr>
          <p:nvPr/>
        </p:nvPicPr>
        <p:blipFill>
          <a:blip r:embed="rId2"/>
          <a:stretch>
            <a:fillRect/>
          </a:stretch>
        </p:blipFill>
        <p:spPr>
          <a:xfrm>
            <a:off x="2434976" y="4219575"/>
            <a:ext cx="8911686" cy="2181225"/>
          </a:xfrm>
          <a:prstGeom prst="rect">
            <a:avLst/>
          </a:prstGeom>
        </p:spPr>
      </p:pic>
    </p:spTree>
    <p:extLst>
      <p:ext uri="{BB962C8B-B14F-4D97-AF65-F5344CB8AC3E}">
        <p14:creationId xmlns:p14="http://schemas.microsoft.com/office/powerpoint/2010/main" val="47244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5660-6B42-9D19-28FD-004BA34B1D7A}"/>
              </a:ext>
            </a:extLst>
          </p:cNvPr>
          <p:cNvSpPr>
            <a:spLocks noGrp="1"/>
          </p:cNvSpPr>
          <p:nvPr>
            <p:ph type="title"/>
          </p:nvPr>
        </p:nvSpPr>
        <p:spPr/>
        <p:txBody>
          <a:bodyPr/>
          <a:lstStyle/>
          <a:p>
            <a:pPr algn="ctr"/>
            <a:r>
              <a:rPr lang="en-AU" dirty="0"/>
              <a:t>General note on constraints and limitations </a:t>
            </a:r>
          </a:p>
        </p:txBody>
      </p:sp>
      <p:sp>
        <p:nvSpPr>
          <p:cNvPr id="3" name="Content Placeholder 2">
            <a:extLst>
              <a:ext uri="{FF2B5EF4-FFF2-40B4-BE49-F238E27FC236}">
                <a16:creationId xmlns:a16="http://schemas.microsoft.com/office/drawing/2014/main" id="{9CEDEEBE-B23C-8B1C-BEE4-D8124F51F06B}"/>
              </a:ext>
            </a:extLst>
          </p:cNvPr>
          <p:cNvSpPr>
            <a:spLocks noGrp="1"/>
          </p:cNvSpPr>
          <p:nvPr>
            <p:ph idx="1"/>
          </p:nvPr>
        </p:nvSpPr>
        <p:spPr/>
        <p:txBody>
          <a:bodyPr>
            <a:normAutofit fontScale="92500" lnSpcReduction="10000"/>
          </a:bodyPr>
          <a:lstStyle/>
          <a:p>
            <a:pPr>
              <a:lnSpc>
                <a:spcPct val="150000"/>
              </a:lnSpc>
            </a:pPr>
            <a:r>
              <a:rPr lang="en-US" dirty="0"/>
              <a:t>That said, broader lending environmental conditions were not considered, as the data scenario is intended to be very general in its approach. </a:t>
            </a:r>
            <a:endParaRPr lang="en-AU" dirty="0"/>
          </a:p>
          <a:p>
            <a:pPr>
              <a:lnSpc>
                <a:spcPct val="150000"/>
              </a:lnSpc>
            </a:pPr>
            <a:r>
              <a:rPr lang="en-US" dirty="0"/>
              <a:t>It illustrates a data pipeline environment that a data analyst could be expected to operate within to resolve stakeholder queries from across a finance aggregator’s business.</a:t>
            </a:r>
            <a:endParaRPr lang="en-AU" dirty="0"/>
          </a:p>
          <a:p>
            <a:pPr>
              <a:lnSpc>
                <a:spcPct val="150000"/>
              </a:lnSpc>
            </a:pPr>
            <a:r>
              <a:rPr lang="en-US" dirty="0"/>
              <a:t>In this instance, the scenario is concerned with resolving questions regarding data relating to customers, loans, lenders, and brokers. </a:t>
            </a:r>
            <a:endParaRPr lang="en-AU" dirty="0"/>
          </a:p>
          <a:p>
            <a:endParaRPr lang="en-AU" dirty="0"/>
          </a:p>
        </p:txBody>
      </p:sp>
    </p:spTree>
    <p:extLst>
      <p:ext uri="{BB962C8B-B14F-4D97-AF65-F5344CB8AC3E}">
        <p14:creationId xmlns:p14="http://schemas.microsoft.com/office/powerpoint/2010/main" val="3058145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FFEE-8E03-A0AD-0357-771813D375B6}"/>
              </a:ext>
            </a:extLst>
          </p:cNvPr>
          <p:cNvSpPr>
            <a:spLocks noGrp="1"/>
          </p:cNvSpPr>
          <p:nvPr>
            <p:ph type="title"/>
          </p:nvPr>
        </p:nvSpPr>
        <p:spPr/>
        <p:txBody>
          <a:bodyPr/>
          <a:lstStyle/>
          <a:p>
            <a:r>
              <a:rPr lang="en-AU" dirty="0"/>
              <a:t>The problem and the approach</a:t>
            </a:r>
          </a:p>
        </p:txBody>
      </p:sp>
      <p:pic>
        <p:nvPicPr>
          <p:cNvPr id="14" name="Content Placeholder 13" descr="A screenshot of a computer screen&#10;&#10;AI-generated content may be incorrect.">
            <a:extLst>
              <a:ext uri="{FF2B5EF4-FFF2-40B4-BE49-F238E27FC236}">
                <a16:creationId xmlns:a16="http://schemas.microsoft.com/office/drawing/2014/main" id="{9AAC1483-A9EE-D064-860F-0506F0F1D298}"/>
              </a:ext>
            </a:extLst>
          </p:cNvPr>
          <p:cNvPicPr>
            <a:picLocks noGrp="1" noChangeAspect="1"/>
          </p:cNvPicPr>
          <p:nvPr>
            <p:ph idx="1"/>
          </p:nvPr>
        </p:nvPicPr>
        <p:blipFill>
          <a:blip r:embed="rId2">
            <a:alphaModFix/>
            <a:extLst>
              <a:ext uri="{28A0092B-C50C-407E-A947-70E740481C1C}">
                <a14:useLocalDpi xmlns:a14="http://schemas.microsoft.com/office/drawing/2010/main" val="0"/>
              </a:ext>
            </a:extLst>
          </a:blip>
          <a:stretch>
            <a:fillRect/>
          </a:stretch>
        </p:blipFill>
        <p:spPr bwMode="gray">
          <a:xfrm>
            <a:off x="5183188" y="1875352"/>
            <a:ext cx="6172200" cy="30977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a:extLst>
              <a:ext uri="{FF2B5EF4-FFF2-40B4-BE49-F238E27FC236}">
                <a16:creationId xmlns:a16="http://schemas.microsoft.com/office/drawing/2014/main" id="{29999492-D1D7-1D9E-9C38-B38476751431}"/>
              </a:ext>
            </a:extLst>
          </p:cNvPr>
          <p:cNvSpPr>
            <a:spLocks noGrp="1"/>
          </p:cNvSpPr>
          <p:nvPr>
            <p:ph type="body" sz="half" idx="2"/>
          </p:nvPr>
        </p:nvSpPr>
        <p:spPr>
          <a:xfrm>
            <a:off x="839788" y="2057400"/>
            <a:ext cx="3932237" cy="4343400"/>
          </a:xfrm>
        </p:spPr>
        <p:txBody>
          <a:bodyPr>
            <a:normAutofit lnSpcReduction="10000"/>
          </a:bodyPr>
          <a:lstStyle/>
          <a:p>
            <a:r>
              <a:rPr lang="en-US" dirty="0"/>
              <a:t>The problem: a business development manager has requested a quarterly report regarding the finance aggregators’ performance ahead of a meeting with lenders and brokers. </a:t>
            </a:r>
            <a:endParaRPr lang="en-AU" dirty="0"/>
          </a:p>
          <a:p>
            <a:r>
              <a:rPr lang="en-US" dirty="0"/>
              <a:t>The approach made some statistical assumptions based on the original ABS data in Excel.</a:t>
            </a:r>
            <a:endParaRPr lang="en-AU" dirty="0"/>
          </a:p>
          <a:p>
            <a:r>
              <a:rPr lang="en-US" dirty="0"/>
              <a:t>Then Python and its libraries, faker, random and pandas, were used to generate and handle the faux data before it was entered into a MYSQL database.</a:t>
            </a:r>
            <a:endParaRPr lang="en-AU" dirty="0"/>
          </a:p>
          <a:p>
            <a:r>
              <a:rPr lang="en-US" dirty="0"/>
              <a:t>It was then extracted, formatted in Python into CSV files, before being accessed in Power BI.</a:t>
            </a:r>
          </a:p>
          <a:p>
            <a:r>
              <a:rPr lang="en-US" dirty="0"/>
              <a:t>This broad generalist approach has reflected the design assumption that solving any business problem requires adaptability and flexibility. </a:t>
            </a:r>
            <a:endParaRPr lang="en-AU" dirty="0"/>
          </a:p>
          <a:p>
            <a:endParaRPr lang="en-AU" dirty="0"/>
          </a:p>
          <a:p>
            <a:endParaRPr lang="en-AU" dirty="0"/>
          </a:p>
        </p:txBody>
      </p:sp>
    </p:spTree>
    <p:extLst>
      <p:ext uri="{BB962C8B-B14F-4D97-AF65-F5344CB8AC3E}">
        <p14:creationId xmlns:p14="http://schemas.microsoft.com/office/powerpoint/2010/main" val="725988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5155-2D5F-EF81-4025-2DA075A8F819}"/>
              </a:ext>
            </a:extLst>
          </p:cNvPr>
          <p:cNvSpPr>
            <a:spLocks noGrp="1"/>
          </p:cNvSpPr>
          <p:nvPr>
            <p:ph type="title"/>
          </p:nvPr>
        </p:nvSpPr>
        <p:spPr/>
        <p:txBody>
          <a:bodyPr/>
          <a:lstStyle/>
          <a:p>
            <a:r>
              <a:rPr lang="en-AU" dirty="0"/>
              <a:t>MYSQL finance aggregator schema</a:t>
            </a:r>
          </a:p>
        </p:txBody>
      </p:sp>
      <p:pic>
        <p:nvPicPr>
          <p:cNvPr id="9" name="Content Placeholder 8" descr="A screenshot of a computer&#10;&#10;AI-generated content may be incorrect.">
            <a:extLst>
              <a:ext uri="{FF2B5EF4-FFF2-40B4-BE49-F238E27FC236}">
                <a16:creationId xmlns:a16="http://schemas.microsoft.com/office/drawing/2014/main" id="{493617A4-FF5A-F374-6115-2EBDCC01D7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1825" y="1825625"/>
            <a:ext cx="9268350" cy="4351338"/>
          </a:xfrm>
        </p:spPr>
      </p:pic>
    </p:spTree>
    <p:extLst>
      <p:ext uri="{BB962C8B-B14F-4D97-AF65-F5344CB8AC3E}">
        <p14:creationId xmlns:p14="http://schemas.microsoft.com/office/powerpoint/2010/main" val="3574804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EFAF9-EA68-6A8D-CDC2-36F12464175A}"/>
              </a:ext>
            </a:extLst>
          </p:cNvPr>
          <p:cNvSpPr>
            <a:spLocks noGrp="1"/>
          </p:cNvSpPr>
          <p:nvPr>
            <p:ph type="title"/>
          </p:nvPr>
        </p:nvSpPr>
        <p:spPr/>
        <p:txBody>
          <a:bodyPr>
            <a:normAutofit/>
          </a:bodyPr>
          <a:lstStyle/>
          <a:p>
            <a:pPr algn="ctr"/>
            <a:r>
              <a:rPr lang="en-AU" dirty="0"/>
              <a:t>Birds Eye view of performance</a:t>
            </a:r>
            <a:br>
              <a:rPr lang="en-AU" dirty="0"/>
            </a:br>
            <a:endParaRPr lang="en-AU" dirty="0"/>
          </a:p>
        </p:txBody>
      </p:sp>
      <p:pic>
        <p:nvPicPr>
          <p:cNvPr id="6" name="Content Placeholder 5" descr="A screenshot of a number&#10;&#10;AI-generated content may be incorrect.">
            <a:extLst>
              <a:ext uri="{FF2B5EF4-FFF2-40B4-BE49-F238E27FC236}">
                <a16:creationId xmlns:a16="http://schemas.microsoft.com/office/drawing/2014/main" id="{F1186F55-9F26-DE1E-9404-9E008A5599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1863" y="1814288"/>
            <a:ext cx="5734850" cy="3219899"/>
          </a:xfrm>
        </p:spPr>
      </p:pic>
      <p:sp>
        <p:nvSpPr>
          <p:cNvPr id="4" name="Text Placeholder 3">
            <a:extLst>
              <a:ext uri="{FF2B5EF4-FFF2-40B4-BE49-F238E27FC236}">
                <a16:creationId xmlns:a16="http://schemas.microsoft.com/office/drawing/2014/main" id="{157FD301-E249-7F17-7473-3485CAAA0E2B}"/>
              </a:ext>
            </a:extLst>
          </p:cNvPr>
          <p:cNvSpPr>
            <a:spLocks noGrp="1"/>
          </p:cNvSpPr>
          <p:nvPr>
            <p:ph type="body" sz="half" idx="2"/>
          </p:nvPr>
        </p:nvSpPr>
        <p:spPr/>
        <p:txBody>
          <a:bodyPr>
            <a:normAutofit/>
          </a:bodyPr>
          <a:lstStyle/>
          <a:p>
            <a:r>
              <a:rPr lang="en-US" dirty="0"/>
              <a:t>Total applications submitted for the quarter were taken to be 252,692. This includes approved loans as well as inferred rejected and dropped loans. </a:t>
            </a:r>
            <a:endParaRPr lang="en-AU" dirty="0"/>
          </a:p>
          <a:p>
            <a:r>
              <a:rPr lang="en-US" dirty="0"/>
              <a:t>Of the total submitted, 127,000 clients in the aggregator’s network accounted for the 127,000 approved loans, from a rounded total of 254,000 loan submissions. </a:t>
            </a:r>
            <a:endParaRPr lang="en-AU" dirty="0"/>
          </a:p>
          <a:p>
            <a:r>
              <a:rPr lang="en-US" dirty="0"/>
              <a:t>It was found that the non-first-home-buyer client type was the majority of approved loans, with approximately 51,000. Followed by investors with 47,218, and lastly, first-home buyers at 28,000. </a:t>
            </a:r>
            <a:endParaRPr lang="en-AU" dirty="0"/>
          </a:p>
        </p:txBody>
      </p:sp>
    </p:spTree>
    <p:extLst>
      <p:ext uri="{BB962C8B-B14F-4D97-AF65-F5344CB8AC3E}">
        <p14:creationId xmlns:p14="http://schemas.microsoft.com/office/powerpoint/2010/main" val="3503302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EC1FF-1258-8C2B-A13B-1158131B2F5C}"/>
              </a:ext>
            </a:extLst>
          </p:cNvPr>
          <p:cNvSpPr>
            <a:spLocks noGrp="1"/>
          </p:cNvSpPr>
          <p:nvPr>
            <p:ph type="title"/>
          </p:nvPr>
        </p:nvSpPr>
        <p:spPr/>
        <p:txBody>
          <a:bodyPr/>
          <a:lstStyle/>
          <a:p>
            <a:r>
              <a:rPr lang="en-AU" dirty="0"/>
              <a:t>Customer loan data</a:t>
            </a:r>
          </a:p>
        </p:txBody>
      </p:sp>
      <p:pic>
        <p:nvPicPr>
          <p:cNvPr id="10" name="Content Placeholder 9" descr="A screenshot of a computer screen&#10;&#10;AI-generated content may be incorrect.">
            <a:extLst>
              <a:ext uri="{FF2B5EF4-FFF2-40B4-BE49-F238E27FC236}">
                <a16:creationId xmlns:a16="http://schemas.microsoft.com/office/drawing/2014/main" id="{FA73BE9F-B0C0-C936-0DFB-32B2808E98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4100"/>
            <a:ext cx="6172200" cy="3480275"/>
          </a:xfrm>
        </p:spPr>
      </p:pic>
      <p:sp>
        <p:nvSpPr>
          <p:cNvPr id="4" name="Text Placeholder 3">
            <a:extLst>
              <a:ext uri="{FF2B5EF4-FFF2-40B4-BE49-F238E27FC236}">
                <a16:creationId xmlns:a16="http://schemas.microsoft.com/office/drawing/2014/main" id="{FB24E7AC-D291-ED5D-9A7F-79DA1F529D09}"/>
              </a:ext>
            </a:extLst>
          </p:cNvPr>
          <p:cNvSpPr>
            <a:spLocks noGrp="1"/>
          </p:cNvSpPr>
          <p:nvPr>
            <p:ph type="body" sz="half" idx="2"/>
          </p:nvPr>
        </p:nvSpPr>
        <p:spPr/>
        <p:txBody>
          <a:bodyPr>
            <a:normAutofit fontScale="77500" lnSpcReduction="20000"/>
          </a:bodyPr>
          <a:lstStyle/>
          <a:p>
            <a:endParaRPr lang="en-AU" dirty="0"/>
          </a:p>
          <a:p>
            <a:r>
              <a:rPr lang="en-US" dirty="0"/>
              <a:t>As a segment, investors have been shown as the most valuable by total approved loan applications in the aggregator’s data, at 35 billion dollars. </a:t>
            </a:r>
            <a:endParaRPr lang="en-AU" dirty="0"/>
          </a:p>
          <a:p>
            <a:r>
              <a:rPr lang="en-US" dirty="0"/>
              <a:t>The average loan amount was 686,000, but averaging loans by customer segment showed that the investor segment was most valuable at 749,890. </a:t>
            </a:r>
            <a:endParaRPr lang="en-AU" dirty="0"/>
          </a:p>
          <a:p>
            <a:r>
              <a:rPr lang="en-US" dirty="0"/>
              <a:t>There is a notable difference between first-home buyers and the other client types in both the total loan values and the total loans submitted and approved. </a:t>
            </a:r>
            <a:endParaRPr lang="en-AU" dirty="0"/>
          </a:p>
          <a:p>
            <a:r>
              <a:rPr lang="en-US" dirty="0"/>
              <a:t>What was a factor that impacted all client types though, was the date. </a:t>
            </a:r>
            <a:endParaRPr lang="en-AU" dirty="0"/>
          </a:p>
          <a:p>
            <a:r>
              <a:rPr lang="en-US" dirty="0"/>
              <a:t>Trends indicate a notable drop in approved loans during February, indicating a dampening of submission numbers in December 2024 before they picked up again by March 2025. </a:t>
            </a:r>
            <a:endParaRPr lang="en-AU" dirty="0"/>
          </a:p>
          <a:p>
            <a:r>
              <a:rPr lang="en-US" dirty="0"/>
              <a:t>This would indicate a return to BAU following the holiday period. </a:t>
            </a:r>
            <a:endParaRPr lang="en-AU" dirty="0"/>
          </a:p>
          <a:p>
            <a:r>
              <a:rPr lang="en-US" dirty="0"/>
              <a:t>This trend was not client-specific, with all client type submission numbers reflecting the same trend in the aggregator data. </a:t>
            </a:r>
            <a:endParaRPr lang="en-AU" dirty="0"/>
          </a:p>
          <a:p>
            <a:endParaRPr lang="en-AU" dirty="0"/>
          </a:p>
        </p:txBody>
      </p:sp>
    </p:spTree>
    <p:extLst>
      <p:ext uri="{BB962C8B-B14F-4D97-AF65-F5344CB8AC3E}">
        <p14:creationId xmlns:p14="http://schemas.microsoft.com/office/powerpoint/2010/main" val="3189521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13041-7B10-81C2-E432-61C66E057BCF}"/>
              </a:ext>
            </a:extLst>
          </p:cNvPr>
          <p:cNvSpPr>
            <a:spLocks noGrp="1"/>
          </p:cNvSpPr>
          <p:nvPr>
            <p:ph type="title"/>
          </p:nvPr>
        </p:nvSpPr>
        <p:spPr/>
        <p:txBody>
          <a:bodyPr/>
          <a:lstStyle/>
          <a:p>
            <a:r>
              <a:rPr lang="en-AU" dirty="0"/>
              <a:t>Marketing Data</a:t>
            </a:r>
          </a:p>
        </p:txBody>
      </p:sp>
      <p:pic>
        <p:nvPicPr>
          <p:cNvPr id="6" name="Content Placeholder 5" descr="A screenshot of a computer&#10;&#10;AI-generated content may be incorrect.">
            <a:extLst>
              <a:ext uri="{FF2B5EF4-FFF2-40B4-BE49-F238E27FC236}">
                <a16:creationId xmlns:a16="http://schemas.microsoft.com/office/drawing/2014/main" id="{8017E4D1-65DB-0F99-71CB-1E4B2BAEB6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3793"/>
            <a:ext cx="6172200" cy="3480889"/>
          </a:xfrm>
        </p:spPr>
      </p:pic>
      <p:sp>
        <p:nvSpPr>
          <p:cNvPr id="4" name="Text Placeholder 3">
            <a:extLst>
              <a:ext uri="{FF2B5EF4-FFF2-40B4-BE49-F238E27FC236}">
                <a16:creationId xmlns:a16="http://schemas.microsoft.com/office/drawing/2014/main" id="{8A53352D-4D77-A189-D72E-03AD71C6AC6C}"/>
              </a:ext>
            </a:extLst>
          </p:cNvPr>
          <p:cNvSpPr>
            <a:spLocks noGrp="1"/>
          </p:cNvSpPr>
          <p:nvPr>
            <p:ph type="body" sz="half" idx="2"/>
          </p:nvPr>
        </p:nvSpPr>
        <p:spPr/>
        <p:txBody>
          <a:bodyPr>
            <a:normAutofit/>
          </a:bodyPr>
          <a:lstStyle/>
          <a:p>
            <a:r>
              <a:rPr lang="en-US" dirty="0"/>
              <a:t>Marketing performance is reflected in marketing IDs, to track where the aggregator was marketing.</a:t>
            </a:r>
          </a:p>
          <a:p>
            <a:r>
              <a:rPr lang="en-US" dirty="0"/>
              <a:t>Broker strategies reflect the effectiveness of the aggregator’s platform for its brokerage partners. </a:t>
            </a:r>
            <a:endParaRPr lang="en-AU" dirty="0"/>
          </a:p>
          <a:p>
            <a:r>
              <a:rPr lang="en-US" dirty="0"/>
              <a:t>During this quarter, the aggregator’s most effective strategy would appear to be Marketing ID 83.</a:t>
            </a:r>
          </a:p>
          <a:p>
            <a:r>
              <a:rPr lang="en-US" dirty="0"/>
              <a:t>The single best-performing, by total approved loans, was marketing ID 18 with 404 million, with the investor client type. </a:t>
            </a:r>
            <a:endParaRPr lang="en-AU" dirty="0"/>
          </a:p>
          <a:p>
            <a:endParaRPr lang="en-AU" dirty="0"/>
          </a:p>
        </p:txBody>
      </p:sp>
    </p:spTree>
    <p:extLst>
      <p:ext uri="{BB962C8B-B14F-4D97-AF65-F5344CB8AC3E}">
        <p14:creationId xmlns:p14="http://schemas.microsoft.com/office/powerpoint/2010/main" val="2541612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D8DC5-1358-EEFA-B404-E6625E0B16C0}"/>
              </a:ext>
            </a:extLst>
          </p:cNvPr>
          <p:cNvSpPr>
            <a:spLocks noGrp="1"/>
          </p:cNvSpPr>
          <p:nvPr>
            <p:ph type="title"/>
          </p:nvPr>
        </p:nvSpPr>
        <p:spPr/>
        <p:txBody>
          <a:bodyPr/>
          <a:lstStyle/>
          <a:p>
            <a:r>
              <a:rPr lang="en-AU" dirty="0"/>
              <a:t>Lenders and products</a:t>
            </a:r>
          </a:p>
        </p:txBody>
      </p:sp>
      <p:pic>
        <p:nvPicPr>
          <p:cNvPr id="6" name="Content Placeholder 5" descr="A screenshot of a pie chart&#10;&#10;AI-generated content may be incorrect.">
            <a:extLst>
              <a:ext uri="{FF2B5EF4-FFF2-40B4-BE49-F238E27FC236}">
                <a16:creationId xmlns:a16="http://schemas.microsoft.com/office/drawing/2014/main" id="{4E83D868-7D51-22DE-0AC1-00051B8619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1385"/>
            <a:ext cx="6172200" cy="3485704"/>
          </a:xfrm>
        </p:spPr>
      </p:pic>
      <p:sp>
        <p:nvSpPr>
          <p:cNvPr id="4" name="Text Placeholder 3">
            <a:extLst>
              <a:ext uri="{FF2B5EF4-FFF2-40B4-BE49-F238E27FC236}">
                <a16:creationId xmlns:a16="http://schemas.microsoft.com/office/drawing/2014/main" id="{266B4A00-8884-2492-C359-EE8180D2F9D7}"/>
              </a:ext>
            </a:extLst>
          </p:cNvPr>
          <p:cNvSpPr>
            <a:spLocks noGrp="1"/>
          </p:cNvSpPr>
          <p:nvPr>
            <p:ph type="body" sz="half" idx="2"/>
          </p:nvPr>
        </p:nvSpPr>
        <p:spPr>
          <a:xfrm>
            <a:off x="839788" y="2057399"/>
            <a:ext cx="3932237" cy="4156587"/>
          </a:xfrm>
        </p:spPr>
        <p:txBody>
          <a:bodyPr>
            <a:normAutofit fontScale="92500" lnSpcReduction="20000"/>
          </a:bodyPr>
          <a:lstStyle/>
          <a:p>
            <a:r>
              <a:rPr lang="en-AU" dirty="0"/>
              <a:t>There is a very close margin between the top 5 loan products by submission approval and the client type. Interestingly, this reflects the trend seen in the marketing campaigns. Again, non-first-home buyers comprise 3 of the top 5 positions and investors the other 2. </a:t>
            </a:r>
          </a:p>
          <a:p>
            <a:r>
              <a:rPr lang="en-AU" dirty="0"/>
              <a:t>Tellingly, first-home buyers, by approved submissions or total value by loan product, don’t crack the top 10 of loan products.</a:t>
            </a:r>
          </a:p>
          <a:p>
            <a:r>
              <a:rPr lang="en-AU" dirty="0"/>
              <a:t>Regarding the loan product rate types, the approved total loan submissions and values were dominated by the fixed loan types. </a:t>
            </a:r>
          </a:p>
          <a:p>
            <a:r>
              <a:rPr lang="en-AU" dirty="0"/>
              <a:t>That said, these comprised a much smaller margin of all loan products and so should be discarded for greater accuracy of customer preferences overall.</a:t>
            </a:r>
          </a:p>
          <a:p>
            <a:r>
              <a:rPr lang="en-AU" dirty="0"/>
              <a:t>Meaning, variable rates still make the greatest proportion by submission and value totals.</a:t>
            </a:r>
          </a:p>
          <a:p>
            <a:r>
              <a:rPr lang="en-AU" dirty="0"/>
              <a:t>Undoubtedly, this anticipates customer sentiments around future rate cuts being likely.</a:t>
            </a:r>
          </a:p>
          <a:p>
            <a:endParaRPr lang="en-AU" dirty="0"/>
          </a:p>
        </p:txBody>
      </p:sp>
    </p:spTree>
    <p:extLst>
      <p:ext uri="{BB962C8B-B14F-4D97-AF65-F5344CB8AC3E}">
        <p14:creationId xmlns:p14="http://schemas.microsoft.com/office/powerpoint/2010/main" val="477576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4AE1B-42E3-0960-E128-09BF08D12E53}"/>
              </a:ext>
            </a:extLst>
          </p:cNvPr>
          <p:cNvSpPr>
            <a:spLocks noGrp="1"/>
          </p:cNvSpPr>
          <p:nvPr>
            <p:ph type="title"/>
          </p:nvPr>
        </p:nvSpPr>
        <p:spPr/>
        <p:txBody>
          <a:bodyPr/>
          <a:lstStyle/>
          <a:p>
            <a:r>
              <a:rPr lang="en-AU" dirty="0"/>
              <a:t>Brokers</a:t>
            </a:r>
          </a:p>
        </p:txBody>
      </p:sp>
      <p:pic>
        <p:nvPicPr>
          <p:cNvPr id="6" name="Content Placeholder 5" descr="A screenshot of a graph&#10;&#10;AI-generated content may be incorrect.">
            <a:extLst>
              <a:ext uri="{FF2B5EF4-FFF2-40B4-BE49-F238E27FC236}">
                <a16:creationId xmlns:a16="http://schemas.microsoft.com/office/drawing/2014/main" id="{62529C27-C525-C8F9-1675-7AEEA4AD1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79710"/>
            <a:ext cx="6172200" cy="3489054"/>
          </a:xfrm>
        </p:spPr>
      </p:pic>
      <p:sp>
        <p:nvSpPr>
          <p:cNvPr id="4" name="Text Placeholder 3">
            <a:extLst>
              <a:ext uri="{FF2B5EF4-FFF2-40B4-BE49-F238E27FC236}">
                <a16:creationId xmlns:a16="http://schemas.microsoft.com/office/drawing/2014/main" id="{A3DCF883-2E87-2414-5AEC-47C152326075}"/>
              </a:ext>
            </a:extLst>
          </p:cNvPr>
          <p:cNvSpPr>
            <a:spLocks noGrp="1"/>
          </p:cNvSpPr>
          <p:nvPr>
            <p:ph type="body" sz="half" idx="2"/>
          </p:nvPr>
        </p:nvSpPr>
        <p:spPr>
          <a:xfrm>
            <a:off x="839788" y="2057400"/>
            <a:ext cx="3932237" cy="4097594"/>
          </a:xfrm>
        </p:spPr>
        <p:txBody>
          <a:bodyPr>
            <a:normAutofit/>
          </a:bodyPr>
          <a:lstStyle/>
          <a:p>
            <a:r>
              <a:rPr lang="en-AU" dirty="0"/>
              <a:t>We can see immediately the inversion between the total value of approved loans and the total number of approved loans submitted. </a:t>
            </a:r>
          </a:p>
          <a:p>
            <a:r>
              <a:rPr lang="en-AU" dirty="0"/>
              <a:t>In this instance, Broker 46 performed the best singularly, and their client type investor clientele came in at a rounded 630 million. </a:t>
            </a:r>
          </a:p>
          <a:p>
            <a:r>
              <a:rPr lang="en-AU" dirty="0"/>
              <a:t>By loans, Broker 24 did the best by total approved loans at 897. </a:t>
            </a:r>
          </a:p>
          <a:p>
            <a:r>
              <a:rPr lang="en-AU" dirty="0"/>
              <a:t>As shown across every facet of the finance aggregator’s data, from marketing to brokers, the two primary client types are investor and non-first-home buyer, who took out the top 10 positions across all the data points. </a:t>
            </a:r>
          </a:p>
          <a:p>
            <a:endParaRPr lang="en-AU" dirty="0"/>
          </a:p>
        </p:txBody>
      </p:sp>
    </p:spTree>
    <p:extLst>
      <p:ext uri="{BB962C8B-B14F-4D97-AF65-F5344CB8AC3E}">
        <p14:creationId xmlns:p14="http://schemas.microsoft.com/office/powerpoint/2010/main" val="2519017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CC75C-8C9F-C628-83FC-C6D7F8107BE8}"/>
              </a:ext>
            </a:extLst>
          </p:cNvPr>
          <p:cNvSpPr>
            <a:spLocks noGrp="1"/>
          </p:cNvSpPr>
          <p:nvPr>
            <p:ph type="title"/>
          </p:nvPr>
        </p:nvSpPr>
        <p:spPr/>
        <p:txBody>
          <a:bodyPr/>
          <a:lstStyle/>
          <a:p>
            <a:pPr algn="ctr"/>
            <a:r>
              <a:rPr lang="en-AU" dirty="0"/>
              <a:t>Results</a:t>
            </a:r>
          </a:p>
        </p:txBody>
      </p:sp>
      <p:sp>
        <p:nvSpPr>
          <p:cNvPr id="3" name="Content Placeholder 2">
            <a:extLst>
              <a:ext uri="{FF2B5EF4-FFF2-40B4-BE49-F238E27FC236}">
                <a16:creationId xmlns:a16="http://schemas.microsoft.com/office/drawing/2014/main" id="{7B6B6C1C-2B15-7A00-4DD0-BFAE358112D4}"/>
              </a:ext>
            </a:extLst>
          </p:cNvPr>
          <p:cNvSpPr>
            <a:spLocks noGrp="1"/>
          </p:cNvSpPr>
          <p:nvPr>
            <p:ph idx="1"/>
          </p:nvPr>
        </p:nvSpPr>
        <p:spPr/>
        <p:txBody>
          <a:bodyPr>
            <a:normAutofit fontScale="70000" lnSpcReduction="20000"/>
          </a:bodyPr>
          <a:lstStyle/>
          <a:p>
            <a:pPr marL="0" indent="0">
              <a:buNone/>
            </a:pPr>
            <a:r>
              <a:rPr lang="en-US" dirty="0"/>
              <a:t>At first glance, the data from the Power BI report is insightful in providing a 10,000ft view and snapshot of how a financial aggregator may have their database and ETL processes set up. </a:t>
            </a:r>
            <a:endParaRPr lang="en-AU" dirty="0"/>
          </a:p>
          <a:p>
            <a:pPr marL="0" indent="0">
              <a:buNone/>
            </a:pPr>
            <a:r>
              <a:rPr lang="en-US" dirty="0"/>
              <a:t>The division across the multiple parts of the business that handle and interact with customers, from the marketing, loans, and lenders, is pertinent in deriving marketing insights and effectiveness by the finance aggregator. </a:t>
            </a:r>
            <a:endParaRPr lang="en-AU" dirty="0"/>
          </a:p>
          <a:p>
            <a:pPr marL="0" indent="0">
              <a:buNone/>
            </a:pPr>
            <a:r>
              <a:rPr lang="en-US" dirty="0"/>
              <a:t>That said, the next important step could be for the finance aggregator in the scenario to investigate if there was anything in the marketing campaigns that was effective in engaging and assisting lenders and brokers in reaching customers. </a:t>
            </a:r>
            <a:endParaRPr lang="en-AU" dirty="0"/>
          </a:p>
          <a:p>
            <a:pPr marL="0" indent="0">
              <a:buNone/>
            </a:pPr>
            <a:r>
              <a:rPr lang="en-US" dirty="0"/>
              <a:t>For example, lack of engagement by client type with platforms could be one explanation or the general market conditions, such as first home buyers and 5% deposits. </a:t>
            </a:r>
            <a:endParaRPr lang="en-AU" dirty="0"/>
          </a:p>
          <a:p>
            <a:pPr marL="0" indent="0">
              <a:buNone/>
            </a:pPr>
            <a:r>
              <a:rPr lang="en-US" dirty="0"/>
              <a:t>Downstream from that, recommendations to brokers and tying them to lenders and products that could help them craft a more compelling value proposition in the market may be the best way forward for the finance aggregator to retain and deliver value within its network. </a:t>
            </a:r>
            <a:endParaRPr lang="en-AU" dirty="0"/>
          </a:p>
          <a:p>
            <a:pPr marL="0" indent="0">
              <a:buNone/>
            </a:pPr>
            <a:r>
              <a:rPr lang="en-US" dirty="0"/>
              <a:t>Technically, the client types reflect the ABS data source, with one notable point being that the most approved client submitted loans were the non-first home buyers, which reflects the original ABS data that the data scenario was created from.</a:t>
            </a:r>
            <a:endParaRPr lang="en-AU" dirty="0"/>
          </a:p>
          <a:p>
            <a:endParaRPr lang="en-AU" dirty="0"/>
          </a:p>
        </p:txBody>
      </p:sp>
    </p:spTree>
    <p:extLst>
      <p:ext uri="{BB962C8B-B14F-4D97-AF65-F5344CB8AC3E}">
        <p14:creationId xmlns:p14="http://schemas.microsoft.com/office/powerpoint/2010/main" val="289402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0A36-EBC3-FA07-668E-798420AEB8A9}"/>
              </a:ext>
            </a:extLst>
          </p:cNvPr>
          <p:cNvSpPr>
            <a:spLocks noGrp="1"/>
          </p:cNvSpPr>
          <p:nvPr>
            <p:ph type="title"/>
          </p:nvPr>
        </p:nvSpPr>
        <p:spPr/>
        <p:txBody>
          <a:bodyPr/>
          <a:lstStyle/>
          <a:p>
            <a:pPr algn="ctr"/>
            <a:r>
              <a:rPr lang="en-AU" dirty="0"/>
              <a:t>References</a:t>
            </a:r>
          </a:p>
        </p:txBody>
      </p:sp>
      <p:sp>
        <p:nvSpPr>
          <p:cNvPr id="3" name="Content Placeholder 2">
            <a:extLst>
              <a:ext uri="{FF2B5EF4-FFF2-40B4-BE49-F238E27FC236}">
                <a16:creationId xmlns:a16="http://schemas.microsoft.com/office/drawing/2014/main" id="{17C4645A-5A67-CDAE-8447-B745306ADCF7}"/>
              </a:ext>
            </a:extLst>
          </p:cNvPr>
          <p:cNvSpPr>
            <a:spLocks noGrp="1"/>
          </p:cNvSpPr>
          <p:nvPr>
            <p:ph idx="1"/>
          </p:nvPr>
        </p:nvSpPr>
        <p:spPr>
          <a:xfrm>
            <a:off x="838200" y="1845290"/>
            <a:ext cx="10515600" cy="2854529"/>
          </a:xfrm>
        </p:spPr>
        <p:txBody>
          <a:bodyPr>
            <a:normAutofit lnSpcReduction="10000"/>
          </a:bodyPr>
          <a:lstStyle/>
          <a:p>
            <a:pPr marL="0" indent="0">
              <a:buNone/>
            </a:pPr>
            <a:r>
              <a:rPr lang="en-AU" sz="1800" i="1" dirty="0"/>
              <a:t>All information presented in the data scenario was inferred and doesn’t reflect total market conditions, standards, or requirements. It is for demonstrative purposes only. </a:t>
            </a:r>
            <a:br>
              <a:rPr lang="en-AU" sz="1800" i="1" dirty="0"/>
            </a:br>
            <a:br>
              <a:rPr lang="en-AU" sz="1800" i="1" dirty="0"/>
            </a:br>
            <a:r>
              <a:rPr lang="en-US" sz="1800" i="1" dirty="0"/>
              <a:t>Lending indicators March Quarter 2025</a:t>
            </a:r>
            <a:endParaRPr lang="en-AU" sz="1800" dirty="0"/>
          </a:p>
          <a:p>
            <a:pPr marL="0" indent="0">
              <a:buNone/>
            </a:pPr>
            <a:r>
              <a:rPr lang="en-US" sz="1800" dirty="0"/>
              <a:t>Australian Bureau of Statistics </a:t>
            </a:r>
            <a:r>
              <a:rPr lang="en-US" sz="1800" dirty="0">
                <a:hlinkClick r:id="rId2"/>
              </a:rPr>
              <a:t>https://www.abs.gov.au/statistics/economy/finance/lending-indicators/mar-quarter-2025</a:t>
            </a:r>
            <a:endParaRPr lang="en-US" sz="1800" dirty="0"/>
          </a:p>
          <a:p>
            <a:pPr marL="0" indent="0">
              <a:buNone/>
            </a:pPr>
            <a:endParaRPr lang="en-US" sz="1800" dirty="0"/>
          </a:p>
          <a:p>
            <a:pPr marL="0" indent="0">
              <a:lnSpc>
                <a:spcPct val="100000"/>
              </a:lnSpc>
              <a:buNone/>
            </a:pPr>
            <a:r>
              <a:rPr lang="en-US" sz="1800" i="1" dirty="0"/>
              <a:t>What is the average new mortgage in Australia?</a:t>
            </a:r>
          </a:p>
          <a:p>
            <a:pPr marL="0" indent="0">
              <a:lnSpc>
                <a:spcPct val="100000"/>
              </a:lnSpc>
              <a:buNone/>
            </a:pPr>
            <a:r>
              <a:rPr lang="en-US" sz="1800" dirty="0" err="1"/>
              <a:t>Canstar</a:t>
            </a:r>
            <a:r>
              <a:rPr lang="en-US" sz="1800"/>
              <a:t> https</a:t>
            </a:r>
            <a:r>
              <a:rPr lang="en-US" sz="1800" dirty="0"/>
              <a:t>://www.canstar.com.au/home-loans/average-home-loan-australia/</a:t>
            </a:r>
          </a:p>
        </p:txBody>
      </p:sp>
    </p:spTree>
    <p:extLst>
      <p:ext uri="{BB962C8B-B14F-4D97-AF65-F5344CB8AC3E}">
        <p14:creationId xmlns:p14="http://schemas.microsoft.com/office/powerpoint/2010/main" val="417819545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141</TotalTime>
  <Words>1171</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2013 - 2022 Theme</vt:lpstr>
      <vt:lpstr>Finance Aggregator Data Scenario</vt:lpstr>
      <vt:lpstr>Introduction to the scenario and its purpose</vt:lpstr>
      <vt:lpstr>General note on constraints and limitations </vt:lpstr>
      <vt:lpstr>The problem and the approach</vt:lpstr>
      <vt:lpstr>MYSQL finance aggregator schema</vt:lpstr>
      <vt:lpstr>Birds Eye view of performance </vt:lpstr>
      <vt:lpstr>Customer loan data</vt:lpstr>
      <vt:lpstr>Marketing Data</vt:lpstr>
      <vt:lpstr>Lenders and products</vt:lpstr>
      <vt:lpstr>Brokers</vt:lpstr>
      <vt:lpstr>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Cambell Craigie</dc:creator>
  <cp:lastModifiedBy>Cambell Craigie</cp:lastModifiedBy>
  <cp:revision>10</cp:revision>
  <dcterms:created xsi:type="dcterms:W3CDTF">2025-10-31T03:12:53Z</dcterms:created>
  <dcterms:modified xsi:type="dcterms:W3CDTF">2025-11-03T02:42:48Z</dcterms:modified>
</cp:coreProperties>
</file>